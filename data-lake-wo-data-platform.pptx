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2" r:id="rId6"/>
    <p:sldId id="263" r:id="rId7"/>
    <p:sldId id="261" r:id="rId8"/>
    <p:sldId id="269" r:id="rId9"/>
    <p:sldId id="264" r:id="rId10"/>
    <p:sldId id="260" r:id="rId11"/>
    <p:sldId id="265" r:id="rId12"/>
    <p:sldId id="266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63"/>
    <p:restoredTop sz="70785"/>
  </p:normalViewPr>
  <p:slideViewPr>
    <p:cSldViewPr snapToGrid="0">
      <p:cViewPr varScale="1">
        <p:scale>
          <a:sx n="148" d="100"/>
          <a:sy n="148" d="100"/>
        </p:scale>
        <p:origin x="3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FE0585-D8C7-D047-B6CD-25B1C3333175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F682D-E591-DD46-AFD8-E940330CB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822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F682D-E591-DD46-AFD8-E940330CBF1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1976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F682D-E591-DD46-AFD8-E940330CBF1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49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auto" latinLnBrk="0" hangingPunct="1"/>
            <a:r>
              <a:rPr lang="en-H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</a:t>
            </a:r>
            <a:endParaRPr lang="en-H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it matters</a:t>
            </a:r>
            <a:endParaRPr lang="en-H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Change Streams</a:t>
            </a:r>
          </a:p>
          <a:p>
            <a:pPr rtl="0" eaLnBrk="1" fontAlgn="t" latinLnBrk="0" hangingPunct="1"/>
            <a:r>
              <a:rPr lang="en-H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Events flow in real-time, no re-scanning</a:t>
            </a:r>
            <a:endParaRPr lang="en-H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Micro-batch (200–500ms)</a:t>
            </a:r>
            <a:endParaRPr lang="en-H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Reduces MongoDB round-trips 200–500×</a:t>
            </a:r>
            <a:endParaRPr lang="en-H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Resume token</a:t>
            </a:r>
            <a:endParaRPr lang="en-H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Crash-safe, no data loss on restart</a:t>
            </a:r>
            <a:endParaRPr lang="en-H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 processor instance</a:t>
            </a:r>
            <a:endParaRPr lang="en-H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distributed consensus needed</a:t>
            </a:r>
            <a:endParaRPr lang="en-H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Scheduled jobs</a:t>
            </a:r>
            <a:endParaRPr lang="en-H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Backfill, cleanup, and complex metric recalculation</a:t>
            </a:r>
            <a:endParaRPr lang="en-H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F682D-E591-DD46-AFD8-E940330CBF1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449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F682D-E591-DD46-AFD8-E940330CBF1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54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00A3-1A3D-5978-8CB2-650AD0413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8A0541-9098-DE60-5AD6-E52F8AC27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E7C24-4980-44E5-6026-8E1952A99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3600-1650-CE46-A522-83D7D9FDA55E}" type="datetime1">
              <a:rPr lang="hu-HU" smtClean="0"/>
              <a:t>2026. 06. 08.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23E4A-F101-236C-6E07-278F324E1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Lake without a Data Platform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A9D88-9F12-1842-FE14-503F20649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182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A2FF6-CDEA-3032-4944-5FE2271B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46B48-44BA-ED81-E961-278E64C5B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994B6-F94A-0DF8-3DF3-C35AC46F6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6AB1-57D1-BB45-B553-6688E25C52CD}" type="datetime1">
              <a:rPr lang="hu-HU" smtClean="0"/>
              <a:t>2026. 06. 08.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EA039-846B-54D6-83E1-1242B7361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Lake without a Data Platform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6A89B-4FAF-71FE-9491-7FC2BE78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97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0DC3D-864B-E686-0393-1594EE48E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447AD-EDD3-9D0A-E515-8FD4355B0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91468-AF5A-C5A3-E91B-41AE89EF9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4ED4-79A9-A84E-A830-DE580E846086}" type="datetime1">
              <a:rPr lang="hu-HU" smtClean="0"/>
              <a:t>2026. 06. 08.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FF295-5341-D188-E525-43B1615F6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Lake without a Data Platform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E235E-EAC9-2F26-F222-699FB45B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25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CC66-B7CA-7E43-833A-8A5D084B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C7374-CC37-338E-66ED-B75BBCBF2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BDFB4-3BE1-4F93-6885-C09919650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6B803-72F2-AFBE-3279-A0E85FFE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242B5-4668-6A41-B955-9BFDCCC54B10}" type="datetime1">
              <a:rPr lang="hu-HU" smtClean="0"/>
              <a:t>2026. 06. 08.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0D714-84EA-DE95-BE77-2D1DF8F79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Lake without a Data Platform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7846C-A4CF-6F87-5821-8CF19A52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71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A084-B37B-C56B-5E25-42DFF4768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60A6F-E09A-AD80-C39C-0A5F433AE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C1D2B-ECC7-917A-93A7-57E55D9F4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02BA7-DF72-359E-AB8A-3D78461AE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C506A5-3C1B-48CC-B2E3-C02CB7C14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9156B-21AD-A6D8-203E-F22131FC6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1AA08-4D88-144C-8D46-9F942FAA12EA}" type="datetime1">
              <a:rPr lang="hu-HU" smtClean="0"/>
              <a:t>2026. 06. 08.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FFB1B-F4B8-F27E-6A1E-E6712E8C8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Lake without a Data Platform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12F2BD-39D3-8B41-4505-38A60902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652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47A8-B8C1-9CF2-1979-50994FAC5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386AD-D443-F1BE-2467-41CFFD2DD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EAC5-7CD3-EE47-A50C-1170A42491F2}" type="datetime1">
              <a:rPr lang="hu-HU" smtClean="0"/>
              <a:t>2026. 06. 08.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0C73E-821D-570A-D171-76177AA1D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Lake without a Data Platform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D1881-446B-AAB8-325D-8260C031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781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5B9AB-C08F-C366-9218-A05B65054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BD7E-C3BD-2742-9BA7-A8A32CBAC986}" type="datetime1">
              <a:rPr lang="hu-HU" smtClean="0"/>
              <a:t>2026. 06. 08.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BD5D81-D608-941B-96EC-8ADE74653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Lake without a Data Platform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B5AFF-22EB-D3E4-3871-8A29BFB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02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F305-97AE-C7B8-86E0-DE046BF1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BCBAB-034F-82D8-45A0-6ADF63F9D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4CE7F-16FC-72ED-62B8-6EF7CF3BF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A9FC7-7EBC-E95E-3AE6-E677C374E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C7DF-39B3-1344-ADEA-582A3A77D0DC}" type="datetime1">
              <a:rPr lang="hu-HU" smtClean="0"/>
              <a:t>2026. 06. 08.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A3EC9-D8C4-321F-C538-4A1C2B19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Lake without a Data Platform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D19AB-FFFE-CD3B-B3AD-5B9738CD8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174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75F3B-3189-0E2D-9F18-E1C3DF1E8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3EA07-694F-6A51-CB3B-57E466E09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B1DCE-BAE6-219F-B74F-EE7107513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3A4D4-B20D-5DDC-51F7-C263E50AC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B159A-63FA-D346-9EEB-90D56D6BE71A}" type="datetime1">
              <a:rPr lang="hu-HU" smtClean="0"/>
              <a:t>2026. 06. 08.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E8ED7-8C57-C83A-CBFB-4EB4FB783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Lake without a Data Platform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12AEC-3A58-DF22-39C1-D3AF5670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083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FC0D-7470-DEC1-0313-A24F6C8B7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EC624-8ADA-B676-F9B1-A56D4CF68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9DE47-BC7B-8214-8E43-3E7BAEB06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CE263-57C2-4A4A-82BF-427FDA624D0E}" type="datetime1">
              <a:rPr lang="hu-HU" smtClean="0"/>
              <a:t>2026. 06. 08.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3285-EC92-512D-E3D1-E5A79B64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Lake without a Data Platform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91412-E9BC-E6B4-AB9E-D2D4A2C1F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11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29DD3A-B745-3D83-D077-63109D6897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BF90C-7E7F-BB1E-7083-F2A0AD9DC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56B7D-6DDD-716D-C045-B87BE3687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3051D-0871-6E40-8F17-D0F8E59FFA3B}" type="datetime1">
              <a:rPr lang="hu-HU" smtClean="0"/>
              <a:t>2026. 06. 08.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AB19E-3A48-7DBB-A57E-59E50DE7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Lake without a Data Platform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8C4EC-66C0-D4D2-4624-D1BBD0096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3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B10630-D45F-7710-39A6-DD6F98C40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0430B-B145-CC0D-91DB-5D6738C50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93358-9EDC-AC48-52C0-A961FD8EEA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0201A-C17C-BA40-97DF-A77E32E86EF5}" type="datetime1">
              <a:rPr lang="hu-HU" smtClean="0"/>
              <a:t>2026. 06. 08.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E7199-6F0C-5372-FB8E-A5F72F3C3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Data Lake without a Data Platform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21B80-2F74-7365-A924-EB65209AC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604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AC59C-51CE-A46A-4D4B-5450DBF4D9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Data Lake Without a Data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88DB7-ADCE-AA28-CD12-ED0BD4D40A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Real-Time Aggregation at 1,500 messages/sec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E4043B-E98B-7CEB-AB10-CC3D1560D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Lake without a Data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E6E43-78C0-887B-FAF7-AD3A60F1A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129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C3D8656-50A2-AF5C-9D2F-7641728CCF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89" b="1444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3841531-CB3D-0FA8-6219-A62E13F90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</a:rPr>
              <a:t>What if you need Data Lake behaviour — but without the platform?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9E9938E-4569-E15C-AD88-0F9128841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Lake without a Data Platform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25CE94-3894-C197-E756-14116B150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055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0534BEB-EDF3-13F4-5312-03EA52802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/>
              <a:t>About 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C9C3E4-7F0B-519E-3C4B-50CBA2C71C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709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51AF1A17-37A8-44EC-280A-5C350FD7D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US" sz="2200" dirty="0"/>
              <a:t>Distributed systems — designing and operating high-throughput, event-driven architectures in production</a:t>
            </a:r>
          </a:p>
          <a:p>
            <a:r>
              <a:rPr lang="en-US" sz="2200" dirty="0"/>
              <a:t>Engineering Manager — leading backend teams, balancing technical direction with delivery</a:t>
            </a:r>
          </a:p>
          <a:p>
            <a:r>
              <a:rPr lang="en-US" sz="2200" dirty="0"/>
              <a:t>Telecommunications domain — building data pipelines for telco device telemetry at scale</a:t>
            </a:r>
          </a:p>
          <a:p>
            <a:r>
              <a:rPr lang="en-US" sz="2200" dirty="0"/>
              <a:t>Founder of Hypercube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ACB77B5-53F8-1CA9-E226-0DD4A246D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97762" y="6356350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/>
              <a:t>Data Lake without a Data Platform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1AF442A-F022-FA01-7E24-4366F544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2978" y="6356350"/>
            <a:ext cx="1300821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553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1D6EA-641C-F8C7-47A3-5A1203A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Business Requirement</a:t>
            </a:r>
          </a:p>
        </p:txBody>
      </p:sp>
      <p:sp>
        <p:nvSpPr>
          <p:cNvPr id="1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F3327-7572-D8F9-9330-232ACE11AC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The challenge:</a:t>
            </a:r>
            <a:r>
              <a:rPr lang="en-US" sz="1700" dirty="0"/>
              <a:t> aggregate telemetry from dozens of home gateways — in near real-time.</a:t>
            </a:r>
          </a:p>
          <a:p>
            <a:pPr marL="0" indent="0">
              <a:buNone/>
            </a:pPr>
            <a:r>
              <a:rPr lang="en-US" sz="1700" b="1" dirty="0"/>
              <a:t>The constraints:</a:t>
            </a:r>
          </a:p>
          <a:p>
            <a:r>
              <a:rPr lang="en-US" sz="1700" dirty="0"/>
              <a:t>~1.5M devices in homes</a:t>
            </a:r>
          </a:p>
          <a:p>
            <a:r>
              <a:rPr lang="en-US" sz="1700" dirty="0"/>
              <a:t>Home gateway data on every 15 minutes</a:t>
            </a:r>
          </a:p>
          <a:p>
            <a:r>
              <a:rPr lang="en-US" sz="1700" dirty="0"/>
              <a:t>Raw event retention: 72 hours</a:t>
            </a:r>
          </a:p>
          <a:p>
            <a:r>
              <a:rPr lang="en-US" sz="1700" dirty="0"/>
              <a:t>Pattern detection window: 48 hours</a:t>
            </a:r>
          </a:p>
          <a:p>
            <a:pPr marL="0"/>
            <a:r>
              <a:rPr lang="en-US" sz="1700" dirty="0"/>
              <a:t>The business needs to know: </a:t>
            </a:r>
          </a:p>
          <a:p>
            <a:pPr marL="457200" lvl="1"/>
            <a:r>
              <a:rPr lang="en-US" sz="1700" i="1" dirty="0"/>
              <a:t>Is this device experiencing low signal?</a:t>
            </a:r>
          </a:p>
          <a:p>
            <a:pPr marL="457200" lvl="1"/>
            <a:r>
              <a:rPr lang="en-US" sz="1700" i="1" dirty="0"/>
              <a:t>How looks like the network topology in the past?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5DE873D0-8D30-6B0C-0B05-2FB441AFE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543" y="640080"/>
            <a:ext cx="3025977" cy="5577840"/>
          </a:xfrm>
          <a:prstGeom prst="rect">
            <a:avLst/>
          </a:prstGeom>
        </p:spPr>
      </p:pic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66CB6FCF-CF5F-1495-22A6-F3FFD3E8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 Lake without a Data Platform</a:t>
            </a:r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30AB8C7A-6152-B83E-A3B2-94445D5E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077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1C14A10-64AB-2AF9-F534-B8CAAC2B1A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4103"/>
          <a:stretch>
            <a:fillRect/>
          </a:stretch>
        </p:blipFill>
        <p:spPr>
          <a:xfrm>
            <a:off x="2575100" y="643466"/>
            <a:ext cx="7041800" cy="5571067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1664EF-DBE1-BDB0-6BEF-BAC72BAA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 Lake without a Data Platform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E0CB8-0800-957A-89B1-98EE1CBD9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667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500B4A4-B1F1-41EA-886A-B8A210DBC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55A99C-0BDC-4DBE-8E40-9FA66F6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734CE1-782A-7C57-6BC1-4F0AC6797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237" y="1023516"/>
            <a:ext cx="10337975" cy="480715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8459A-1C45-107B-88F1-853FA669B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Lake without a Data Platform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5B7A-5391-9321-0772-F89C2FC90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334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065A53-1026-A0F9-06CF-EAB461C26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 Tries</a:t>
            </a:r>
          </a:p>
        </p:txBody>
      </p:sp>
      <p:sp>
        <p:nvSpPr>
          <p:cNvPr id="39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38616-6208-E836-C1A5-C91FC0C8D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/>
              <a:t>Attempt 1 · Apache Spark</a:t>
            </a:r>
          </a:p>
          <a:p>
            <a:r>
              <a:rPr lang="en-US" sz="2200" dirty="0"/>
              <a:t>The technically correct choice. Kafka → Spark → MongoDB.</a:t>
            </a:r>
          </a:p>
          <a:p>
            <a:pPr marL="0"/>
            <a:r>
              <a:rPr lang="en-US" sz="2200" b="1" dirty="0"/>
              <a:t>What went wrong:</a:t>
            </a:r>
            <a:endParaRPr lang="en-US" sz="2200" dirty="0"/>
          </a:p>
          <a:p>
            <a:r>
              <a:rPr lang="en-US" sz="2200" dirty="0"/>
              <a:t>Operational overhead: constant tuning of memory.</a:t>
            </a:r>
          </a:p>
          <a:p>
            <a:r>
              <a:rPr lang="en-US" sz="2200" dirty="0"/>
              <a:t>Resource contention: running Spark on the same infra as the application caused unpredictable failures</a:t>
            </a:r>
          </a:p>
          <a:p>
            <a:r>
              <a:rPr lang="en-US" sz="2200" b="1" dirty="0"/>
              <a:t>No metrics.</a:t>
            </a:r>
          </a:p>
          <a:p>
            <a:pPr marL="0"/>
            <a:endParaRPr lang="en-US" sz="22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F089EA7-0D2F-20EA-7304-5D5E3CFEE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 Lake without a Data Platform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3CEB483-ABC6-965E-6ADE-3D7456F1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339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2642C5-B971-E573-0BF3-AF9A43FAD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941AB052-9272-5507-1B96-76D1840FE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7A302-7090-2A06-8C3C-DC8715E30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 Tries</a:t>
            </a:r>
          </a:p>
        </p:txBody>
      </p:sp>
      <p:sp>
        <p:nvSpPr>
          <p:cNvPr id="39" name="sketch line">
            <a:extLst>
              <a:ext uri="{FF2B5EF4-FFF2-40B4-BE49-F238E27FC236}">
                <a16:creationId xmlns:a16="http://schemas.microsoft.com/office/drawing/2014/main" id="{3775D408-D871-7467-C858-380062116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DEA7E-F1E3-4D3C-A9CC-9DA8A8AE8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2400" b="1" dirty="0"/>
              <a:t>Attempt 2 · Scheduled Aggregation Jobs</a:t>
            </a:r>
          </a:p>
          <a:p>
            <a:r>
              <a:rPr lang="en-GB" sz="2400" dirty="0"/>
              <a:t>Simpler: Kafka → MongoDB raw collection → batch job every 60 seconds.</a:t>
            </a:r>
          </a:p>
          <a:p>
            <a:pPr marL="0" indent="0">
              <a:buNone/>
            </a:pPr>
            <a:r>
              <a:rPr lang="en-HU" sz="2400" b="1" dirty="0"/>
              <a:t>What went wrong:</a:t>
            </a:r>
            <a:endParaRPr lang="en-HU" sz="2400" dirty="0"/>
          </a:p>
          <a:p>
            <a:r>
              <a:rPr lang="en-GB" sz="2400" dirty="0"/>
              <a:t>Aggregation throughput &lt; ingestion throughput — the queue never caught up</a:t>
            </a:r>
          </a:p>
          <a:p>
            <a:r>
              <a:rPr lang="en-GB" sz="2400" dirty="0"/>
              <a:t>Lag grew from minutes to hours</a:t>
            </a:r>
          </a:p>
          <a:p>
            <a:r>
              <a:rPr lang="en-GB" sz="2400" b="1" dirty="0"/>
              <a:t>Again: no monitoring.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3C64BF-67D9-0C09-271E-567061E66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 Lake without a Data Platform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540B3EA-48E2-A231-2623-1D0DBC1A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91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7AF4338-6D22-4191-C3D0-0869697B1E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16757" b="593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3FE77-4604-176E-CDB2-BE35DD2AA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Data Lake without a Data Platform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B8518-B90E-AA25-B627-B40AC2773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013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63ABF-527B-D7DB-F786-B26987272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Autofit/>
          </a:bodyPr>
          <a:lstStyle/>
          <a:p>
            <a:r>
              <a:rPr lang="en-GB" dirty="0"/>
              <a:t>What's in the Box?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41E9559-7AD4-CE7C-B103-16E4CCB032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009484"/>
              </p:ext>
            </p:extLst>
          </p:nvPr>
        </p:nvGraphicFramePr>
        <p:xfrm>
          <a:off x="723091" y="2103119"/>
          <a:ext cx="3650280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5140">
                  <a:extLst>
                    <a:ext uri="{9D8B030D-6E8A-4147-A177-3AD203B41FA5}">
                      <a16:colId xmlns:a16="http://schemas.microsoft.com/office/drawing/2014/main" val="2241200865"/>
                    </a:ext>
                  </a:extLst>
                </a:gridCol>
                <a:gridCol w="1825140">
                  <a:extLst>
                    <a:ext uri="{9D8B030D-6E8A-4147-A177-3AD203B41FA5}">
                      <a16:colId xmlns:a16="http://schemas.microsoft.com/office/drawing/2014/main" val="1669392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U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U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717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Orchestration</a:t>
                      </a:r>
                      <a:endParaRPr lang="en-HU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Kubernetes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547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U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Message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Apache Kafka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996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MongoDB (replica set)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598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Event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MongoDB Change Streams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553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Node.js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817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Observability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Prometheus + Grafana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374028"/>
                  </a:ext>
                </a:extLst>
              </a:tr>
            </a:tbl>
          </a:graphicData>
        </a:graphic>
      </p:graphicFrame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B1DFA5-2034-2D4E-93B9-9BDBE8BF8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199" y="964372"/>
            <a:ext cx="6953577" cy="4641512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CFC0DE-90C1-ACF6-290B-70DBB587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Lake without a Data Platform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F8BE8A4-A2C3-28EA-4143-B0FE154C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269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91738-43EC-4AF2-2F02-DFD235A1C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8A5D9B04-BAFE-0E3D-FB34-2341E0B06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Change stream with resume token</a:t>
            </a:r>
          </a:p>
          <a:p>
            <a:r>
              <a:rPr lang="en-US" sz="2200" dirty="0"/>
              <a:t>Micro-batch</a:t>
            </a:r>
          </a:p>
          <a:p>
            <a:r>
              <a:rPr lang="en-US" sz="2200" dirty="0"/>
              <a:t>Single processor instance to aggregate data</a:t>
            </a:r>
          </a:p>
          <a:p>
            <a:r>
              <a:rPr lang="en-US" sz="2200" dirty="0"/>
              <a:t>Scheduled jobs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E50E5F6-EFC5-90AD-6DE7-87E0571B2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357" y="640080"/>
            <a:ext cx="5981597" cy="5577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244CF-9ABD-218A-3AAE-451557494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 Lake without a Data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ABDEC-7D67-DAB6-2447-5D577BD59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158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BAFE2-3304-B4C9-BA68-1CD09E453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Monitoring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4BB9C-8F76-031B-C0C6-BF96A94143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200" dirty="0"/>
              <a:t>”</a:t>
            </a:r>
            <a:r>
              <a:rPr lang="en-HU" b="1" dirty="0"/>
              <a:t> Visibility is not optional. It's the architecture.”</a:t>
            </a:r>
          </a:p>
          <a:p>
            <a:pPr marL="0" indent="0">
              <a:buNone/>
            </a:pPr>
            <a:r>
              <a:rPr lang="en-US" sz="2200" dirty="0"/>
              <a:t>Every element of the pipeline needs its own monitoring and alerts.</a:t>
            </a:r>
          </a:p>
          <a:p>
            <a:r>
              <a:rPr lang="en-US" sz="2200" dirty="0"/>
              <a:t>Events/sec · Event lag - are we keeping up with the producer? </a:t>
            </a:r>
          </a:p>
          <a:p>
            <a:r>
              <a:rPr lang="en-US" sz="2200" dirty="0"/>
              <a:t>Batch size · Flush frequency - how full is the micro-batch window?</a:t>
            </a:r>
          </a:p>
          <a:p>
            <a:r>
              <a:rPr lang="en-US" sz="2200" dirty="0"/>
              <a:t>Change stream lag - time between INSERT and aggregation write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8F2998-F205-7EE7-C177-0C03FA8D0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562" y="640080"/>
            <a:ext cx="4545939" cy="5577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E60C6-DFEC-0CCF-7197-DB178F322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 Lake without a Data Platform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58DAB-091A-FF39-7604-D3CD63F3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597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99CDBC0-1F60-ADC7-DAA2-4B5A0CC13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Kafka throughput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78F9A7A-F76B-9523-B8EF-310EA0F252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972" y="2184975"/>
            <a:ext cx="10768181" cy="3903465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31767-BAE1-F5F5-3ADA-965F238EB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 Lake without a Data Platform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39C59-3D7B-68B1-2CED-BDACA646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z="10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143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7C233-98F0-2504-7B04-89AC3AA51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Kafka reading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B99E5FB-3DEA-AC07-227A-2FC31057F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972" y="2400339"/>
            <a:ext cx="10768181" cy="3472737"/>
          </a:xfrm>
          <a:prstGeom prst="rect">
            <a:avLst/>
          </a:pr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BA398-D5D1-8443-4D0F-3E42F3AAA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 Lake without a Data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9546F-F906-3FA0-CF99-A2DB43B2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z="10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871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15375-023F-D882-3768-92708000B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MongoDB Change Stream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ADC63F-A796-BF66-BC40-B36198A0C3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1708" y="2072640"/>
            <a:ext cx="9276709" cy="4128135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284E4-21CB-0461-0CB4-F1EB7960C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 Lake without a Data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25BEE-F21B-DDA8-47BB-C28B4B7D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z="10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328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3A95CB-593B-91CC-4187-468486BC2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Change Stream lag and buffer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EF9FAB8-B60A-EBA6-91C4-C3A589985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972" y="2965669"/>
            <a:ext cx="10768181" cy="2342077"/>
          </a:xfrm>
          <a:prstGeom prst="rect">
            <a:avLst/>
          </a:pr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38A39F-A4AD-5BE2-F270-811BB9983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 Lake without a Data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83B82-B794-F159-37C7-AE206D37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z="10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114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EB1F04-F3B6-9BF7-8A94-4C42CC23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TTL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6BD3C7-61B7-1FCE-F02C-C30A28CB7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2203" y="2072640"/>
            <a:ext cx="8555718" cy="4128135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06E7AA-575E-D7BF-5018-3BFC40D84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 Lake without a Data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634C3-686A-F895-7237-61556CFDE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z="10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956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C1FC2D-96E7-4F12-E3AC-AE057DE2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TTL / broken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0BC76C2-6A8D-E5EA-A9E4-BF10CF6D3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4253" y="2072640"/>
            <a:ext cx="8511618" cy="4128135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D6AD8-B252-B54B-1A21-C3BF287A0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Data Lake without a Data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BCCC55-D203-FCDC-186D-09AE54F4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z="10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535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loseup image of beer bubbles">
            <a:extLst>
              <a:ext uri="{FF2B5EF4-FFF2-40B4-BE49-F238E27FC236}">
                <a16:creationId xmlns:a16="http://schemas.microsoft.com/office/drawing/2014/main" id="{1322AB12-F79C-7121-3DFF-F0E1B9C49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69"/>
          <a:stretch>
            <a:fillRect/>
          </a:stretch>
        </p:blipFill>
        <p:spPr>
          <a:xfrm>
            <a:off x="21" y="0"/>
            <a:ext cx="12191979" cy="688736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20"/>
            <a:ext cx="5566593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863442" y="855815"/>
            <a:ext cx="6887365" cy="516047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7648"/>
            <a:ext cx="2079513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706777" y="3068761"/>
            <a:ext cx="4504659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774557" y="-6485"/>
            <a:ext cx="342716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64705" y="-1061856"/>
            <a:ext cx="3682024" cy="12211438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-7639"/>
            <a:ext cx="4879823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B1E19E-3704-989D-4E2B-ECBC5BD38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28" y="2155188"/>
            <a:ext cx="4160233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Thank You — Questions Welcome over a Beer 🍺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6C1F6B-8D14-3263-A3BA-1FA98FA13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Data Lake without a Data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77357-B206-4444-FF38-0D894BEF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57F1E4F-1CFF-5643-939E-217C01CDF565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19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77CFE4-7E70-9F0D-31B1-1A0E7D8DD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234" y="3002674"/>
            <a:ext cx="1960707" cy="19607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F58929F-85C9-27D7-9C57-AFC6D54BF7E7}"/>
              </a:ext>
            </a:extLst>
          </p:cNvPr>
          <p:cNvSpPr txBox="1"/>
          <p:nvPr/>
        </p:nvSpPr>
        <p:spPr>
          <a:xfrm>
            <a:off x="9512797" y="4963381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@medium</a:t>
            </a:r>
          </a:p>
        </p:txBody>
      </p:sp>
    </p:spTree>
    <p:extLst>
      <p:ext uri="{BB962C8B-B14F-4D97-AF65-F5344CB8AC3E}">
        <p14:creationId xmlns:p14="http://schemas.microsoft.com/office/powerpoint/2010/main" val="3962587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8066</TotalTime>
  <Words>552</Words>
  <Application>Microsoft Macintosh PowerPoint</Application>
  <PresentationFormat>Widescreen</PresentationFormat>
  <Paragraphs>120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Data Lake Without a Data Platform</vt:lpstr>
      <vt:lpstr>What if you need Data Lake behaviour — but without the platform?</vt:lpstr>
      <vt:lpstr>About Me</vt:lpstr>
      <vt:lpstr>Business Requirement</vt:lpstr>
      <vt:lpstr>PowerPoint Presentation</vt:lpstr>
      <vt:lpstr>PowerPoint Presentation</vt:lpstr>
      <vt:lpstr>First Tries</vt:lpstr>
      <vt:lpstr>First Tries</vt:lpstr>
      <vt:lpstr>PowerPoint Presentation</vt:lpstr>
      <vt:lpstr>What's in the Box?</vt:lpstr>
      <vt:lpstr>Solution</vt:lpstr>
      <vt:lpstr>Monitoring</vt:lpstr>
      <vt:lpstr>Kafka throughput</vt:lpstr>
      <vt:lpstr>Kafka reading</vt:lpstr>
      <vt:lpstr>MongoDB Change Stream</vt:lpstr>
      <vt:lpstr>Change Stream lag and buffer</vt:lpstr>
      <vt:lpstr>TTL</vt:lpstr>
      <vt:lpstr>TTL / broken</vt:lpstr>
      <vt:lpstr>Thank You — Questions Welcome over a Beer 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Major Balázs</dc:creator>
  <cp:lastModifiedBy>Major Balázs</cp:lastModifiedBy>
  <cp:revision>20</cp:revision>
  <dcterms:created xsi:type="dcterms:W3CDTF">2026-06-02T20:28:25Z</dcterms:created>
  <dcterms:modified xsi:type="dcterms:W3CDTF">2026-06-08T10:58:57Z</dcterms:modified>
</cp:coreProperties>
</file>